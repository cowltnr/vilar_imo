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906000"/>
  <p:notesSz cx="6858000" cy="9144000"/>
  <p:embeddedFontLst>
    <p:embeddedFont>
      <p:font typeface="NanumGothicExtraBold"/>
      <p:bold r:id="rId20"/>
    </p:embeddedFont>
    <p:embeddedFont>
      <p:font typeface="Do Hyeon"/>
      <p:regular r:id="rId21"/>
    </p:embeddedFont>
    <p:embeddedFont>
      <p:font typeface="Nanum Gothic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anumGothicExtraBold-bold.fntdata"/><Relationship Id="rId11" Type="http://schemas.openxmlformats.org/officeDocument/2006/relationships/slide" Target="slides/slide7.xml"/><Relationship Id="rId22" Type="http://schemas.openxmlformats.org/officeDocument/2006/relationships/font" Target="fonts/NanumGothic-regular.fntdata"/><Relationship Id="rId10" Type="http://schemas.openxmlformats.org/officeDocument/2006/relationships/slide" Target="slides/slide6.xml"/><Relationship Id="rId21" Type="http://schemas.openxmlformats.org/officeDocument/2006/relationships/font" Target="fonts/DoHyeon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Nanum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83f82c804_4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1183f82c804_4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e94540d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12e94540dd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e94540d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12e94540dd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e94540d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2e94540dd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e94540d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12e94540dd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e94540d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12e94540dd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e94540dd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12e94540dd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e94540d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12e94540dd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e94540dd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12e94540dde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386840" y="1425647"/>
            <a:ext cx="7132200" cy="20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6000"/>
              <a:buFont typeface="NanumGothicExtraBold"/>
              <a:buNone/>
              <a:defRPr sz="6000">
                <a:solidFill>
                  <a:srgbClr val="17365D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52776" y="3465698"/>
            <a:ext cx="5366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anum Gothic"/>
              <a:buNone/>
              <a:defRPr b="1" sz="2400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1386840" y="3429000"/>
            <a:ext cx="7132200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목차 슬라이드">
  <p:cSld name="목차 슬라이드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681038" y="1236952"/>
            <a:ext cx="8544000" cy="4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365D"/>
              </a:buClr>
              <a:buSzPts val="2800"/>
              <a:buAutoNum type="arabicPeriod"/>
              <a:defRPr sz="2800">
                <a:solidFill>
                  <a:srgbClr val="17365D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2400"/>
              <a:buChar char="•"/>
              <a:defRPr>
                <a:solidFill>
                  <a:srgbClr val="17365D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2000"/>
              <a:buChar char="•"/>
              <a:defRPr>
                <a:solidFill>
                  <a:srgbClr val="17365D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>
                <a:solidFill>
                  <a:srgbClr val="17365D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>
                <a:solidFill>
                  <a:srgbClr val="17365D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3873000" y="270000"/>
            <a:ext cx="2160000" cy="54000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 차</a:t>
            </a:r>
            <a:endParaRPr i="0" sz="1400" u="none" cap="none" strike="noStrike">
              <a:solidFill>
                <a:srgbClr val="000000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컨텐츠 표지 슬라이드">
  <p:cSld name="컨텐츠 표지 슬라이드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2073000" y="1629000"/>
            <a:ext cx="5760000" cy="360000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" name="Google Shape;19;p4"/>
          <p:cNvCxnSpPr/>
          <p:nvPr/>
        </p:nvCxnSpPr>
        <p:spPr>
          <a:xfrm>
            <a:off x="3152999" y="4244608"/>
            <a:ext cx="18000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4"/>
          <p:cNvSpPr/>
          <p:nvPr/>
        </p:nvSpPr>
        <p:spPr>
          <a:xfrm>
            <a:off x="4952998" y="1612119"/>
            <a:ext cx="2880000" cy="36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952998" y="1629002"/>
            <a:ext cx="288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000"/>
              <a:buNone/>
              <a:defRPr b="1" sz="4000"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 Hyeon"/>
              <a:buNone/>
              <a:defRPr>
                <a:latin typeface="Do Hyeon"/>
                <a:ea typeface="Do Hyeon"/>
                <a:cs typeface="Do Hyeon"/>
                <a:sym typeface="Do Hyeon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253741" y="2741358"/>
            <a:ext cx="16992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3153000" y="4279597"/>
            <a:ext cx="1800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주요 컨텐츠 슬라이드">
  <p:cSld name="주요 컨텐츠 슬라이드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655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solidFill>
                  <a:schemeClr val="dk1"/>
                </a:solidFill>
              </a:defRPr>
            </a:lvl3pPr>
            <a:lvl4pPr indent="-3111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>
                <a:solidFill>
                  <a:schemeClr val="dk1"/>
                </a:solidFill>
              </a:defRPr>
            </a:lvl4pPr>
            <a:lvl5pPr indent="-3365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>
                <a:solidFill>
                  <a:schemeClr val="dk1"/>
                </a:solidFill>
              </a:defRPr>
            </a:lvl5pPr>
            <a:lvl6pPr indent="-336550" lvl="5" marL="2743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6pPr>
            <a:lvl7pPr indent="-336550" lvl="6" marL="3200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7pPr>
            <a:lvl8pPr indent="-336550" lvl="7" marL="3657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8pPr>
            <a:lvl9pPr indent="-336550" lvl="8" marL="411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 sz="1700"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None/>
              <a:defRPr b="1" sz="2800"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" name="Google Shape;27;p5"/>
          <p:cNvGrpSpPr/>
          <p:nvPr/>
        </p:nvGrpSpPr>
        <p:grpSpPr>
          <a:xfrm>
            <a:off x="0" y="270000"/>
            <a:ext cx="4953000" cy="540000"/>
            <a:chOff x="0" y="270000"/>
            <a:chExt cx="4953000" cy="540000"/>
          </a:xfrm>
        </p:grpSpPr>
        <p:sp>
          <p:nvSpPr>
            <p:cNvPr id="28" name="Google Shape;28;p5"/>
            <p:cNvSpPr/>
            <p:nvPr/>
          </p:nvSpPr>
          <p:spPr>
            <a:xfrm>
              <a:off x="0" y="270000"/>
              <a:ext cx="1620000" cy="540000"/>
            </a:xfrm>
            <a:prstGeom prst="rect">
              <a:avLst/>
            </a:prstGeom>
            <a:solidFill>
              <a:srgbClr val="17365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29;p5"/>
            <p:cNvSpPr/>
            <p:nvPr/>
          </p:nvSpPr>
          <p:spPr>
            <a:xfrm>
              <a:off x="1620000" y="738000"/>
              <a:ext cx="3333000" cy="72000"/>
            </a:xfrm>
            <a:prstGeom prst="rect">
              <a:avLst/>
            </a:prstGeom>
            <a:solidFill>
              <a:srgbClr val="17365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마지막장">
  <p:cSld name="마지막장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8221287" y="6151418"/>
            <a:ext cx="1684800" cy="55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3" name="Google Shape;33;p6"/>
          <p:cNvGrpSpPr/>
          <p:nvPr/>
        </p:nvGrpSpPr>
        <p:grpSpPr>
          <a:xfrm>
            <a:off x="1642539" y="772845"/>
            <a:ext cx="6620803" cy="2404890"/>
            <a:chOff x="1811114" y="1024271"/>
            <a:chExt cx="6620803" cy="2404890"/>
          </a:xfrm>
        </p:grpSpPr>
        <p:pic>
          <p:nvPicPr>
            <p:cNvPr descr="텍스트이(가) 표시된 사진&#10;&#10;자동 생성된 설명" id="34" name="Google Shape;34;p6"/>
            <p:cNvPicPr preferRelativeResize="0"/>
            <p:nvPr/>
          </p:nvPicPr>
          <p:blipFill rotWithShape="1">
            <a:blip r:embed="rId2">
              <a:alphaModFix/>
            </a:blip>
            <a:srcRect b="0" l="32369" r="0" t="0"/>
            <a:stretch/>
          </p:blipFill>
          <p:spPr>
            <a:xfrm>
              <a:off x="4038717" y="1024271"/>
              <a:ext cx="2997100" cy="12309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6"/>
            <p:cNvSpPr txBox="1"/>
            <p:nvPr/>
          </p:nvSpPr>
          <p:spPr>
            <a:xfrm>
              <a:off x="4038717" y="2105561"/>
              <a:ext cx="43932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Robotics</a:t>
              </a:r>
              <a:endParaRPr b="1" i="0" sz="8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텍스트이(가) 표시된 사진&#10;&#10;자동 생성된 설명" id="36" name="Google Shape;36;p6"/>
            <p:cNvPicPr preferRelativeResize="0"/>
            <p:nvPr/>
          </p:nvPicPr>
          <p:blipFill rotWithShape="1">
            <a:blip r:embed="rId2">
              <a:alphaModFix/>
            </a:blip>
            <a:srcRect b="0" l="0" r="71925" t="0"/>
            <a:stretch/>
          </p:blipFill>
          <p:spPr>
            <a:xfrm>
              <a:off x="1811114" y="1169590"/>
              <a:ext cx="2061119" cy="2039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" name="Google Shape;37;p6"/>
          <p:cNvSpPr txBox="1"/>
          <p:nvPr/>
        </p:nvSpPr>
        <p:spPr>
          <a:xfrm>
            <a:off x="1311907" y="3680426"/>
            <a:ext cx="7282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Do Hyeon"/>
                <a:ea typeface="Do Hyeon"/>
                <a:cs typeface="Do Hyeon"/>
                <a:sym typeface="Do Hyeon"/>
              </a:rPr>
              <a:t>Tel.	</a:t>
            </a:r>
            <a:r>
              <a:rPr b="0" i="0" lang="en-US" sz="2800" u="none" cap="none" strike="noStrike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031 – 229 – 3553</a:t>
            </a:r>
            <a:endParaRPr b="0" i="0" sz="1400" u="none" cap="none" strike="noStrike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Do Hyeon"/>
                <a:ea typeface="Do Hyeon"/>
                <a:cs typeface="Do Hyeon"/>
                <a:sym typeface="Do Hyeon"/>
              </a:rPr>
              <a:t>Fax.	</a:t>
            </a:r>
            <a:r>
              <a:rPr b="0" i="0" lang="en-US" sz="2800" u="none" cap="none" strike="noStrike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031 – 229 – 3554</a:t>
            </a:r>
            <a:endParaRPr b="0" i="0" sz="1400" u="none" cap="none" strike="noStrike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Do Hyeon"/>
                <a:ea typeface="Do Hyeon"/>
                <a:cs typeface="Do Hyeon"/>
                <a:sym typeface="Do Hyeon"/>
              </a:rPr>
              <a:t>제품 문의:	</a:t>
            </a:r>
            <a:r>
              <a:rPr b="0" i="0" lang="en-US" sz="2800" u="none" cap="none" strike="noStrike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go.sales@wego-robotics.com</a:t>
            </a:r>
            <a:endParaRPr b="0" i="0" sz="1400" u="none" cap="none" strike="noStrike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Do Hyeon"/>
                <a:ea typeface="Do Hyeon"/>
                <a:cs typeface="Do Hyeon"/>
                <a:sym typeface="Do Hyeon"/>
              </a:rPr>
              <a:t>기술 문의:	</a:t>
            </a:r>
            <a:r>
              <a:rPr b="0" i="0" lang="en-US" sz="2800" u="none" cap="none" strike="noStrike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go.support@wego-robotics.com</a:t>
            </a:r>
            <a:endParaRPr b="0" i="0" sz="2800" u="none" cap="none" strike="noStrike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17" y="389140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714" y="3891405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(워터마크)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>
  <p:cSld name="빈 화면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8221287" y="6151418"/>
            <a:ext cx="1684800" cy="55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81038" y="365129"/>
            <a:ext cx="85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NanumGothicExtraBold"/>
              <a:buNone/>
              <a:defRPr i="0" sz="4400" u="none" cap="none" strike="noStrike">
                <a:solidFill>
                  <a:srgbClr val="17365D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1038" y="1825625"/>
            <a:ext cx="8544000" cy="4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Nanum Gothic"/>
              <a:buChar char="•"/>
              <a:defRPr b="1" i="0" sz="2800" u="none" cap="none" strike="noStrike">
                <a:solidFill>
                  <a:srgbClr val="17365D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indent="-3810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anum Gothic"/>
              <a:buChar char="•"/>
              <a:defRPr b="1" i="0" sz="2400" u="none" cap="none" strike="noStrike">
                <a:solidFill>
                  <a:srgbClr val="17365D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indent="-3556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Nanum Gothic"/>
              <a:buChar char="•"/>
              <a:defRPr b="1" i="0" sz="2000" u="none" cap="none" strike="noStrike">
                <a:solidFill>
                  <a:srgbClr val="17365D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rgbClr val="17365D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rgbClr val="17365D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indent="-342900" lvl="5" marL="2743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indent="-342900" lvl="6" marL="3200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indent="-342900" lvl="7" marL="3657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indent="-342900" lvl="8" marL="4114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anum Gothic"/>
              <a:buChar char="•"/>
              <a:defRPr i="0" sz="18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/>
        </p:txBody>
      </p:sp>
      <p:sp>
        <p:nvSpPr>
          <p:cNvPr id="8" name="Google Shape;8;p1"/>
          <p:cNvSpPr/>
          <p:nvPr/>
        </p:nvSpPr>
        <p:spPr>
          <a:xfrm>
            <a:off x="0" y="6714000"/>
            <a:ext cx="9906000" cy="144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7365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39530" y="6197009"/>
            <a:ext cx="1591656" cy="4420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WeGo-Robotics/limo_exampl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ctrTitle"/>
          </p:nvPr>
        </p:nvSpPr>
        <p:spPr>
          <a:xfrm>
            <a:off x="1386840" y="1425647"/>
            <a:ext cx="7132320" cy="2003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6000"/>
              <a:buFont typeface="Malgun Gothic"/>
              <a:buNone/>
            </a:pPr>
            <a:r>
              <a:rPr lang="en-US"/>
              <a:t>LIMO Utils</a:t>
            </a:r>
            <a:endParaRPr/>
          </a:p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3152776" y="3465698"/>
            <a:ext cx="5366385" cy="454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None/>
            </a:pPr>
            <a:r>
              <a:rPr lang="en-US"/>
              <a:t>WeGo &amp; LIMO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681038" y="1236952"/>
            <a:ext cx="8543925" cy="4883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동작 환경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Method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4952998" y="1629002"/>
            <a:ext cx="288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000"/>
              <a:buFont typeface="Malgun Gothic"/>
              <a:buNone/>
            </a:pPr>
            <a:r>
              <a:rPr lang="en-US" sz="3800"/>
              <a:t>동작 환경</a:t>
            </a:r>
            <a:endParaRPr sz="3800"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253741" y="2741358"/>
            <a:ext cx="1699256" cy="150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153000" y="4279597"/>
            <a:ext cx="1799998" cy="8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Github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https://github.com/WeGo-Robotics/limo_examples</a:t>
            </a:r>
            <a:endParaRPr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테스트 환경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Ubuntu 18.04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ROS Melodic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Python 2.7 (Default version for Ubuntu 18.04 &amp; ROS Melodic)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OpenCV 4.1.1</a:t>
            </a:r>
            <a:endParaRPr/>
          </a:p>
        </p:txBody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동작 환경</a:t>
            </a:r>
            <a:endParaRPr/>
          </a:p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952998" y="1629002"/>
            <a:ext cx="2880002" cy="3599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000"/>
              <a:buFont typeface="Malgun Gothic"/>
              <a:buNone/>
            </a:pPr>
            <a:r>
              <a:rPr lang="en-US" sz="3800"/>
              <a:t>Method</a:t>
            </a:r>
            <a:endParaRPr sz="3800"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3253741" y="2741358"/>
            <a:ext cx="1699256" cy="150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74" name="Google Shape;74;p13"/>
          <p:cNvSpPr txBox="1"/>
          <p:nvPr>
            <p:ph idx="2" type="body"/>
          </p:nvPr>
        </p:nvSpPr>
        <p:spPr>
          <a:xfrm>
            <a:off x="3153000" y="4279597"/>
            <a:ext cx="1799998" cy="8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startApplication()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 : 없음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없음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해당 모듈 사용을 위해 필수적으로 선행되어야 하는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동작 </a:t>
            </a:r>
            <a:r>
              <a:rPr lang="en-US"/>
              <a:t>시, Python Script와 ROS가 연결 및 LIMO 제어 준비가 완료됨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정상적으로 수행 시, ‘limo application start’ 라는 문구가 출력됨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수행 후, 2초간 대기</a:t>
            </a:r>
            <a:endParaRPr/>
          </a:p>
        </p:txBody>
      </p:sp>
      <p:sp>
        <p:nvSpPr>
          <p:cNvPr id="80" name="Google Shape;80;p14"/>
          <p:cNvSpPr txBox="1"/>
          <p:nvPr>
            <p:ph type="title"/>
          </p:nvPr>
        </p:nvSpPr>
        <p:spPr>
          <a:xfrm>
            <a:off x="1619999" y="311050"/>
            <a:ext cx="7604963" cy="42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81" name="Google Shape;81;p14"/>
          <p:cNvSpPr txBox="1"/>
          <p:nvPr>
            <p:ph idx="2" type="body"/>
          </p:nvPr>
        </p:nvSpPr>
        <p:spPr>
          <a:xfrm>
            <a:off x="74815" y="301070"/>
            <a:ext cx="1545183" cy="42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goStraight(_linear_speed=0.2)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 : _linear_speed (Float)→ LIMO의 선속도 (m/s), Default는 0.2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정상 완료 시, True, 실패 시 False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LIMO 전, 후진을 담당하는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입력받은 _linear_speed (m/s)에 맞춰 전진 또는 후진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지속적인 입력을 하지 않도록 0.1초의 대기 기간 있음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중간에 문제 없이 성공 시 True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오류 발생 시, False</a:t>
            </a:r>
            <a:endParaRPr/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88" name="Google Shape;88;p15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turn(_angular_speed=0.5, _unit=”rad”)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_angular_speed (Float) → LIMO의 회전속도, Default는 0.5 rad/s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_unit (String) → _angular_speed의 단위 명시, “rad” or “deg” 중 하나로 설정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정상 완료 </a:t>
            </a:r>
            <a:r>
              <a:rPr lang="en-US"/>
              <a:t>시, True, 실패 시 False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LIMO 회전을 담당하는 메서드 (Ackermann Mode에서는 조향 담</a:t>
            </a:r>
            <a:r>
              <a:rPr lang="en-US"/>
              <a:t>당)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입력받은 _angular_speed 에 맞춰 회전 or 조향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지속적인 입력을 하지 않도록 0.1초의 대기 기간 있음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중간에 문제 없이 성공 시 True, 오류 발생 </a:t>
            </a:r>
            <a:r>
              <a:rPr lang="en-US"/>
              <a:t>시, False</a:t>
            </a:r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95" name="Google Shape;95;p16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020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moveCmd</a:t>
            </a:r>
            <a:r>
              <a:rPr lang="en-US"/>
              <a:t>(_linear_speed=0.2, _angular_speed=0.5, _unit=”rad”)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Input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_linear_speed (Float) → LIMO의 선속도 (m/s)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_angular_speed (Float) → LIMO의 회전속도, Default는 0.5 rad/s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_unit (String) → _angular_speed의 단위 명시, “rad” or “deg” 중 하나로 설정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Output : 정상 완료 시, True, 실패 시 False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Description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LIMO 전후진 및 회전을 동시에 실행하기 위한 메서드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Processing Procedure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입력받은 _linear_speed, _angular_speed 에 맞춰 전진 or 후진 및 회전 or 조향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지속적인 입력을 하지 않도록 0.1초의 대기 기간 있음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중간에 문제 없이 성공 시 True, 오류 발생 시, False</a:t>
            </a:r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getRosTopicData</a:t>
            </a:r>
            <a:r>
              <a:rPr lang="en-US"/>
              <a:t>(_topic_name, _msg_type)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_topic_name (String) → 받으려고 하는 Topic 이름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_msg_type (String) → 받으려고 하는 Topic의 메시지 타입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정상 완료 시, Topic Data, 3초 이상 데이터가 없을 경우 None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ROS Topic Data를 받기 위한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3초 간 입력한 메시지 타입을 가진 Topic을 받기를 시도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성공하</a:t>
            </a:r>
            <a:r>
              <a:rPr lang="en-US"/>
              <a:t>면, 해당 데이터를 반환, 3초 이상 데이터가 없을 경우 None을 반환</a:t>
            </a:r>
            <a:endParaRPr/>
          </a:p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getLidar</a:t>
            </a:r>
            <a:r>
              <a:rPr lang="en-US"/>
              <a:t>()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 : 없음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정상 완료 시, LiDAR Data, 3초 이상 데이터가 없을 경우 None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LIMO LiDAR 데이터를 받기 위한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3초 간 LaserScan Type의 “/scan” 토픽을 받기를 시도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성공하면, LiDAR 데이터를 반환, 3초 이상 데이터가 없을 경우 None을 반환</a:t>
            </a:r>
            <a:endParaRPr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020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getLidarRangeUsingAngle</a:t>
            </a:r>
            <a:r>
              <a:rPr lang="en-US"/>
              <a:t>(_lidar, _angle=0.0, _type=”deg”)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Input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_lidar (LaserScan) → getLidar() 메서드를 통해 받은 데이터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_angle (Float) → 거리 값이 필요한 특정 각도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_type (String) → “deg” or “rad” 입력한 _angle의 단</a:t>
            </a:r>
            <a:r>
              <a:rPr lang="en-US"/>
              <a:t>위, Default는 “deg”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Output : </a:t>
            </a:r>
            <a:r>
              <a:rPr lang="en-US"/>
              <a:t>정상 완료 시, (Angle, Range) 반환, 물체가 너무 가깝거나 멀면 (_angle, 0.0)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Description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LiDAR의 특정 각도의 거리값을 받기 위한 메서드</a:t>
            </a:r>
            <a:endParaRPr/>
          </a:p>
          <a:p>
            <a:pPr indent="-328453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Processing Procedure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입력된 각도를 degree 단위로 변환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입력된 각도 양쪽으로 1.5도를 탐색하</a:t>
            </a:r>
            <a:r>
              <a:rPr lang="en-US"/>
              <a:t>여, 값이 있으면 해당 각도와 거리를 반환</a:t>
            </a:r>
            <a:endParaRPr/>
          </a:p>
          <a:p>
            <a:pPr indent="-316706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값이 없으면 입력한 _angle과 0.0을 함께 반환</a:t>
            </a:r>
            <a:endParaRPr/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23" name="Google Shape;123;p20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getImage</a:t>
            </a:r>
            <a:r>
              <a:rPr lang="en-US"/>
              <a:t>(_type=”opencv”)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_type (String) → “opencv” 일 경</a:t>
            </a:r>
            <a:r>
              <a:rPr lang="en-US"/>
              <a:t>우, 출력 데이터를 opencv Image 타입으로, “ROS”인 경우, 출력 데이터를 ROS CompressedImage 타입으로 반환, Default는 “opencv”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정상 완료 시, Image Data, 3초 이상 데이터가 없을 경우 None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LIMO Camera 데이터를 받기 위한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3초 간 CompressedImage Type의 “/camera/rgb/image_raw/compressed” 토픽을 받기를 시도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성공하면, Image 데이터를 반환, 3초 이상 데이터가 없을 경우 None을 반환</a:t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681000" y="993000"/>
            <a:ext cx="8544000" cy="51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showOpenCvImage</a:t>
            </a:r>
            <a:r>
              <a:rPr lang="en-US"/>
              <a:t>(_image, _window_name=”myImage”)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Input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_image (OpenCV Image) → 확인하려는 이미지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_window_name (String) → 확인하는 창의 이름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Output : 없음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Description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OpenCV Image를 확인하기 위한 메서드</a:t>
            </a:r>
            <a:endParaRPr/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Processing Procedure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_window_name 이름의 창을 생성</a:t>
            </a:r>
            <a:endParaRPr/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생성된 창에 _image를 띄우기 </a:t>
            </a:r>
            <a:endParaRPr/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1619999" y="311050"/>
            <a:ext cx="7605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Malgun Gothic"/>
              <a:buNone/>
            </a:pPr>
            <a:r>
              <a:rPr lang="en-US"/>
              <a:t>Method</a:t>
            </a:r>
            <a:endParaRPr/>
          </a:p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74815" y="301070"/>
            <a:ext cx="15453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Go Template(A4)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